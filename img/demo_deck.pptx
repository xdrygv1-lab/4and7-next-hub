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CD9AE"/>
                </a:solidFill>
                <a:latin typeface="Pretendard"/>
              </a:defRPr>
            </a:pPr>
            <a:r>
              <a:rPr sz="1300" b="0" i="0" u="none" strike="noStrike">
                <a:solidFill>
                  <a:srgbClr val="ECD9AE"/>
                </a:solidFill>
                <a:latin typeface="Pretendard"/>
              </a:rPr>
              <a:t>최근 재무 흐름 (억원)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C9A96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5EFE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2021년</c:v>
                  </c:pt>
                  <c:pt idx="1">
                    <c:v>2022년</c:v>
                  </c:pt>
                  <c:pt idx="2">
                    <c:v>2023년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49.1</c:v>
                </c:pt>
                <c:pt idx="1">
                  <c:v>53.7</c:v>
                </c:pt>
                <c:pt idx="2">
                  <c:v>58.4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순이익</c:v>
                </c:pt>
              </c:strCache>
            </c:strRef>
          </c:tx>
          <c:spPr>
            <a:solidFill>
              <a:srgbClr val="CFD4D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5EFE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2021년</c:v>
                  </c:pt>
                  <c:pt idx="1">
                    <c:v>2022년</c:v>
                  </c:pt>
                  <c:pt idx="2">
                    <c:v>2023년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3.1</c:v>
                </c:pt>
                <c:pt idx="1">
                  <c:v>3.9</c:v>
                </c:pt>
                <c:pt idx="2">
                  <c:v>4.6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F5EFE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FD4DE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A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D97AB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CFD4DE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CD9AE"/>
                </a:solidFill>
                <a:latin typeface="Pretendard"/>
              </a:defRPr>
            </a:pPr>
            <a:r>
              <a:rPr sz="1300" b="0" i="0" u="none" strike="noStrike">
                <a:solidFill>
                  <a:srgbClr val="ECD9AE"/>
                </a:solidFill>
                <a:latin typeface="Pretendard"/>
              </a:rPr>
              <a:t>대표 지분 가치 추정 (억원)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지분 가치</c:v>
                </c:pt>
              </c:strCache>
            </c:strRef>
          </c:tx>
          <c:spPr>
            <a:solidFill>
              <a:srgbClr val="C9A96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5EFE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지금</c:v>
                  </c:pt>
                  <c:pt idx="1">
                    <c:v>1년 후</c:v>
                  </c:pt>
                  <c:pt idx="2">
                    <c:v>3년 후</c:v>
                  </c:pt>
                  <c:pt idx="3">
                    <c:v>5년 후</c:v>
                  </c:pt>
                  <c:pt idx="4">
                    <c:v>10년 후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</c:v>
                </c:pt>
                <c:pt idx="1">
                  <c:v>38.5</c:v>
                </c:pt>
                <c:pt idx="2">
                  <c:v>43.6</c:v>
                </c:pt>
                <c:pt idx="3">
                  <c:v>49</c:v>
                </c:pt>
                <c:pt idx="4">
                  <c:v>64.1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F5EFE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FD4DE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A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D97AB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대표님, 지난번에 말씀해 주신 내용을 바탕으로 회사 상황을 정리하고, 해결 방법을 준비해 왔습니다. 한 시간 정도 걸립니다.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지난번에 하신 말씀을 그대로 적어 왔습니다. "퇴직금 준비는 따로 안 했다" 제가 맞게 이해했는지 확인하고 시작하겠습니다.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회사 상황을 여덟 가지로 나눠 봤습니다. 빨간색이 5개, 주황색이 2개입니다. 오늘은 빨간색부터 보겠습니다.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숫자로 보면 매출이 58.4억, 순이익이 4.6억, 순이익률이 7.9%입니다. 주신 자료 기준의 대략값입니다.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회사가 지금처럼 이익을 내면 대표님 지분 가치는 10년 뒤 약 64.1억이 됩니다. 가치가 오르기 전에 준비할수록 선택지가 많습니다.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대표님 지분 가치는 약 36억로 추정되며, 이대로면 10년 후 약 64.1억입니다. 제가 드리는 말씀은 세금을 줄이자는 게 아닙니다. 그때 낼 돈이 있느냐입니다. 그래서 법인 대표님들은 개인 돈이 아니라 법인에서 미리 준비해 두는 구조를 쓰십니다. 가만히 두면 어떻게 되는지, 준비하면 무엇이 달라지는지 같이 보시죠.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회사에 쌓인 잉여금은 22억이고, 이대로면 10년 후 약 76.3억이 됩니다. 회사에 쌓인 돈을 대표님께 가장 세금 부담 적게 옮기는 길이 따로 있습니다. 미리 정해 두면 그 사이에 대표님 유고까지 같이 대비가 됩니다. 가만히 두면 어떻게 되는지, 준비하면 무엇이 달라지는지 같이 보시죠.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순이익 4.6억에 비해 대표님이 이익을 가져오는 길이 정리되지 않았습니다. 회사에 쌓인 돈을 대표님께 가장 세금 부담 적게 옮기는 길이 따로 있습니다. 미리 정해 두면 그 사이에 대표님 유고까지 같이 대비가 됩니다. 가만히 두면 어떻게 되는지, 준비하면 무엇이 달라지는지 같이 보시죠.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해결은 세 단계입니다. 먼저 규정을 정비하고, 그다음 재원을 나눠서 만들고, 매년 함께 점검합니다.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다른 대표님들이 이 단계에서 많이 물어보시는 것을 미리 정리했습니다.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정관 정비와 청약을 같은 날 처리하려면 의사록 날짜부터 잡겠습니다. 언제가 편하세요?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마지막으로, 주변에 비슷한 고민을 하시는 대표님이 계시면 두 분만 소개해 주세요. 같은 방식으로 정리해 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92608" y="292608"/>
            <a:ext cx="11603736" cy="6272784"/>
          </a:xfrm>
          <a:prstGeom prst="rect">
            <a:avLst/>
          </a:prstGeom>
          <a:solidFill>
            <a:srgbClr val="0B1630">
              <a:alpha val="0"/>
            </a:srgbClr>
          </a:solidFill>
          <a:ln w="9525">
            <a:solidFill>
              <a:srgbClr val="C9A96A">
                <a:alpha val="5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01168" y="201168"/>
            <a:ext cx="36576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01168" y="201168"/>
            <a:ext cx="0" cy="36576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622024" y="6656832"/>
            <a:ext cx="36576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987784" y="6291072"/>
            <a:ext cx="0" cy="36576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926080" y="548640"/>
            <a:ext cx="6309360" cy="5669280"/>
          </a:xfrm>
          <a:prstGeom prst="ellipse">
            <a:avLst/>
          </a:prstGeom>
          <a:solidFill>
            <a:srgbClr val="13254A">
              <a:alpha val="45000"/>
            </a:srgbClr>
          </a:solidFill>
          <a:ln w="12700">
            <a:solidFill>
              <a:srgbClr val="13254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6916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1200" kern="0" dirty="0">
                <a:solidFill>
                  <a:srgbClr val="ECD9A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PROPOSAL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14884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EFE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가나정밀(주) 대표님 제안 자료</a:t>
            </a:r>
            <a:endParaRPr lang="en-US" sz="4000" dirty="0"/>
          </a:p>
        </p:txBody>
      </p:sp>
      <p:sp>
        <p:nvSpPr>
          <p:cNvPr id="11" name="Shape 8"/>
          <p:cNvSpPr/>
          <p:nvPr/>
        </p:nvSpPr>
        <p:spPr>
          <a:xfrm>
            <a:off x="5550408" y="3703320"/>
            <a:ext cx="1097280" cy="0"/>
          </a:xfrm>
          <a:prstGeom prst="line">
            <a:avLst/>
          </a:prstGeom>
          <a:noFill/>
          <a:ln w="15875">
            <a:solidFill>
              <a:srgbClr val="C9A9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8862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C9A9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2026-10-15 · 초안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43434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D4D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대표님 회사 진단과 해결 방향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66928" y="4206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4&amp;7 NEXT</a:t>
            </a:r>
            <a:pPr indent="0" marL="0">
              <a:buNone/>
            </a:pPr>
            <a:r>
              <a:rPr lang="en-US" sz="1000" spc="300" kern="0" dirty="0">
                <a:solidFill>
                  <a:srgbClr val="8D97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초안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92608" y="292608"/>
            <a:ext cx="11603736" cy="6272784"/>
          </a:xfrm>
          <a:prstGeom prst="rect">
            <a:avLst/>
          </a:prstGeom>
          <a:solidFill>
            <a:srgbClr val="0B1630">
              <a:alpha val="0"/>
            </a:srgbClr>
          </a:solidFill>
          <a:ln w="9525">
            <a:solidFill>
              <a:srgbClr val="C9A96A">
                <a:alpha val="5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01168" y="201168"/>
            <a:ext cx="36576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01168" y="201168"/>
            <a:ext cx="0" cy="36576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622024" y="6656832"/>
            <a:ext cx="36576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987784" y="6291072"/>
            <a:ext cx="0" cy="36576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4206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4&amp;7 NEXT</a:t>
            </a:r>
            <a:pPr indent="0" marL="0">
              <a:buNone/>
            </a:pPr>
            <a:r>
              <a:rPr lang="en-US" sz="1000" spc="300" kern="0" dirty="0">
                <a:solidFill>
                  <a:srgbClr val="8D97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초안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881360" y="3840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CD9A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EFE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지난번 말씀하신 것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713232" y="1627632"/>
            <a:ext cx="100584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1874520"/>
            <a:ext cx="10607040" cy="4343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퇴직금 준비는 따로 안 했다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아들이 회사에 들어왔다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설비 증설 고민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66928" y="61996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7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 처리는 세무사 검토 사항 · 상품 조건과 금액은 가입설계서·재정심사로 확정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92608" y="292608"/>
            <a:ext cx="11603736" cy="6272784"/>
          </a:xfrm>
          <a:prstGeom prst="rect">
            <a:avLst/>
          </a:prstGeom>
          <a:solidFill>
            <a:srgbClr val="0B1630">
              <a:alpha val="0"/>
            </a:srgbClr>
          </a:solidFill>
          <a:ln w="9525">
            <a:solidFill>
              <a:srgbClr val="C9A96A">
                <a:alpha val="5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01168" y="201168"/>
            <a:ext cx="36576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01168" y="201168"/>
            <a:ext cx="0" cy="36576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622024" y="6656832"/>
            <a:ext cx="36576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987784" y="6291072"/>
            <a:ext cx="0" cy="36576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4206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4&amp;7 NEXT</a:t>
            </a:r>
            <a:pPr indent="0" marL="0">
              <a:buNone/>
            </a:pPr>
            <a:r>
              <a:rPr lang="en-US" sz="1000" spc="300" kern="0" dirty="0">
                <a:solidFill>
                  <a:srgbClr val="8D97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초안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881360" y="3840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CD9A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EFE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한눈에 보는 진단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713232" y="1627632"/>
            <a:ext cx="100584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2031111"/>
            <a:ext cx="201168" cy="201168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34440" y="1874520"/>
            <a:ext cx="10149840" cy="5143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 가치  </a:t>
            </a:r>
            <a:pPr indent="0" marL="0">
              <a:buNone/>
            </a:pPr>
            <a:r>
              <a:rPr lang="en-US" sz="1400" dirty="0">
                <a:solidFill>
                  <a:srgbClr val="CFD4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대표님 지분 가치는 약 36억로 추정되며, 이대로면 10년 후 약 64.1억입니다.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68680" y="2545461"/>
            <a:ext cx="201168" cy="201168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34440" y="2388870"/>
            <a:ext cx="10149840" cy="5143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잉여금 누적  </a:t>
            </a:r>
            <a:pPr indent="0" marL="0">
              <a:buNone/>
            </a:pPr>
            <a:r>
              <a:rPr lang="en-US" sz="1400" dirty="0">
                <a:solidFill>
                  <a:srgbClr val="CFD4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회사에 쌓인 잉여금은 22억이고, 이대로면 10년 후 약 76.3억이 됩니다.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68680" y="3059811"/>
            <a:ext cx="201168" cy="20116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34440" y="2903220"/>
            <a:ext cx="10149840" cy="5143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급여·배당 구조  </a:t>
            </a:r>
            <a:pPr indent="0" marL="0">
              <a:buNone/>
            </a:pPr>
            <a:r>
              <a:rPr lang="en-US" sz="1400" dirty="0">
                <a:solidFill>
                  <a:srgbClr val="CFD4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순이익 4.6억에 비해 대표님이 이익을 가져오는 길이 정리되지 않았습니다.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68680" y="3574161"/>
            <a:ext cx="201168" cy="201168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34440" y="3417570"/>
            <a:ext cx="10149840" cy="5143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퇴직금  </a:t>
            </a:r>
            <a:pPr indent="0" marL="0">
              <a:buNone/>
            </a:pPr>
            <a:r>
              <a:rPr lang="en-US" sz="1400" dirty="0">
                <a:solidFill>
                  <a:srgbClr val="CFD4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대표님 퇴직금 규정이나 재원이 아직 준비되지 않았습니다.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68680" y="4088511"/>
            <a:ext cx="201168" cy="201168"/>
          </a:xfrm>
          <a:prstGeom prst="ellipse">
            <a:avLst/>
          </a:prstGeom>
          <a:solidFill>
            <a:srgbClr val="9AA4B2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34440" y="3931920"/>
            <a:ext cx="10149840" cy="5143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가지급금  </a:t>
            </a:r>
            <a:pPr indent="0" marL="0">
              <a:buNone/>
            </a:pPr>
            <a:r>
              <a:rPr lang="en-US" sz="1400" dirty="0">
                <a:solidFill>
                  <a:srgbClr val="CFD4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재무상태표의 가지급금을 확인합니다.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68680" y="4602861"/>
            <a:ext cx="201168" cy="201168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34440" y="4446270"/>
            <a:ext cx="10149840" cy="5143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CEO 유고 자금  </a:t>
            </a:r>
            <a:pPr indent="0" marL="0">
              <a:buNone/>
            </a:pPr>
            <a:r>
              <a:rPr lang="en-US" sz="1400" dirty="0">
                <a:solidFill>
                  <a:srgbClr val="CFD4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대표님 유고 시 회사가 버티려면 최소 18억의 유동자금이 필요합니다 (부채총계 기준 대략).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68680" y="5117211"/>
            <a:ext cx="201168" cy="20116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34440" y="4960620"/>
            <a:ext cx="10149840" cy="5143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주주 구성  </a:t>
            </a:r>
            <a:pPr indent="0" marL="0">
              <a:buNone/>
            </a:pPr>
            <a:r>
              <a:rPr lang="en-US" sz="1400" dirty="0">
                <a:solidFill>
                  <a:srgbClr val="CFD4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대표님 지분이 90%로, 가족 지분 계획을 점검할 시점입니다.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68680" y="5631561"/>
            <a:ext cx="201168" cy="201168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234440" y="5474970"/>
            <a:ext cx="10149840" cy="5143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상속세 재원  </a:t>
            </a:r>
            <a:pPr indent="0" marL="0">
              <a:buNone/>
            </a:pPr>
            <a:r>
              <a:rPr lang="en-US" sz="1400" dirty="0">
                <a:solidFill>
                  <a:srgbClr val="CFD4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대표님 지분만으로도 예상 상속세가 약 10.9억입니다. 준비된 재원을 확인해야 합니다.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66928" y="61996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7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 처리는 세무사 검토 사항 · 상품 조건과 금액은 가입설계서·재정심사로 확정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92608" y="292608"/>
            <a:ext cx="11603736" cy="6272784"/>
          </a:xfrm>
          <a:prstGeom prst="rect">
            <a:avLst/>
          </a:prstGeom>
          <a:solidFill>
            <a:srgbClr val="0B1630">
              <a:alpha val="0"/>
            </a:srgbClr>
          </a:solidFill>
          <a:ln w="9525">
            <a:solidFill>
              <a:srgbClr val="C9A96A">
                <a:alpha val="5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01168" y="201168"/>
            <a:ext cx="36576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01168" y="201168"/>
            <a:ext cx="0" cy="36576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622024" y="6656832"/>
            <a:ext cx="36576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987784" y="6291072"/>
            <a:ext cx="0" cy="36576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4206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4&amp;7 NEXT</a:t>
            </a:r>
            <a:pPr indent="0" marL="0">
              <a:buNone/>
            </a:pPr>
            <a:r>
              <a:rPr lang="en-US" sz="1000" spc="300" kern="0" dirty="0">
                <a:solidFill>
                  <a:srgbClr val="8D97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초안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881360" y="3840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CD9A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EFE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회사의 현재 모습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713232" y="1627632"/>
            <a:ext cx="100584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187452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매출: 58.4억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순이익: 4.6억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순이익률: 7.9%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자본(순자산): 31억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이익잉여금: 22억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현금성 자산: 6억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부채비율: 77%</a:t>
            </a:r>
            <a:endParaRPr lang="en-US" sz="16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172200" y="1828800"/>
          <a:ext cx="53949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0"/>
          <p:cNvSpPr/>
          <p:nvPr/>
        </p:nvSpPr>
        <p:spPr>
          <a:xfrm>
            <a:off x="566928" y="61996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7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 처리는 세무사 검토 사항 · 상품 조건과 금액은 가입설계서·재정심사로 확정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92608" y="292608"/>
            <a:ext cx="11603736" cy="6272784"/>
          </a:xfrm>
          <a:prstGeom prst="rect">
            <a:avLst/>
          </a:prstGeom>
          <a:solidFill>
            <a:srgbClr val="0B1630">
              <a:alpha val="0"/>
            </a:srgbClr>
          </a:solidFill>
          <a:ln w="9525">
            <a:solidFill>
              <a:srgbClr val="C9A96A">
                <a:alpha val="5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01168" y="201168"/>
            <a:ext cx="36576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01168" y="201168"/>
            <a:ext cx="0" cy="36576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622024" y="6656832"/>
            <a:ext cx="36576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987784" y="6291072"/>
            <a:ext cx="0" cy="36576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4206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4&amp;7 NEXT</a:t>
            </a:r>
            <a:pPr indent="0" marL="0">
              <a:buNone/>
            </a:pPr>
            <a:r>
              <a:rPr lang="en-US" sz="1000" spc="300" kern="0" dirty="0">
                <a:solidFill>
                  <a:srgbClr val="8D97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초안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881360" y="3840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CD9A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04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EFE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회사 가치와 앞으로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713232" y="1627632"/>
            <a:ext cx="100584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187452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지분 가치 (추정): 지금 36억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1년 후: 38.5억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3년 후: 43.6억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5년 후: 49억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10년 후: 64.1억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가정: 이익 매년 3% 증가, 약식 추정 (정식 평가 아님)</a:t>
            </a:r>
            <a:endParaRPr lang="en-US" sz="16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172200" y="1828800"/>
          <a:ext cx="53949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0"/>
          <p:cNvSpPr/>
          <p:nvPr/>
        </p:nvSpPr>
        <p:spPr>
          <a:xfrm>
            <a:off x="566928" y="61996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7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 처리는 세무사 검토 사항 · 상품 조건과 금액은 가입설계서·재정심사로 확정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92608" y="292608"/>
            <a:ext cx="11603736" cy="6272784"/>
          </a:xfrm>
          <a:prstGeom prst="rect">
            <a:avLst/>
          </a:prstGeom>
          <a:solidFill>
            <a:srgbClr val="0B1630">
              <a:alpha val="0"/>
            </a:srgbClr>
          </a:solidFill>
          <a:ln w="9525">
            <a:solidFill>
              <a:srgbClr val="C9A96A">
                <a:alpha val="5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01168" y="201168"/>
            <a:ext cx="36576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01168" y="201168"/>
            <a:ext cx="0" cy="36576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622024" y="6656832"/>
            <a:ext cx="36576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987784" y="6291072"/>
            <a:ext cx="0" cy="36576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4206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4&amp;7 NEXT</a:t>
            </a:r>
            <a:pPr indent="0" marL="0">
              <a:buNone/>
            </a:pPr>
            <a:r>
              <a:rPr lang="en-US" sz="1000" spc="300" kern="0" dirty="0">
                <a:solidFill>
                  <a:srgbClr val="8D97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초안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881360" y="3840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CD9A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05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EFE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회사 가치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713232" y="1627632"/>
            <a:ext cx="100584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1874520"/>
            <a:ext cx="10607040" cy="4343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대표님 지분 가치는 약 36억로 추정되며, 이대로면 10년 후 약 64.1억입니다.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방향: 제가 드리는 말씀은 세금을 줄이자는 게 아닙니다. 그때 낼 돈이 있느냐입니다. 그래서 법인 대표님들은 개인 돈이 아니라 법인에서 미리 준비해 두는 구조를 쓰십니다.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66928" y="61996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7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 처리는 세무사 검토 사항 · 상품 조건과 금액은 가입설계서·재정심사로 확정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92608" y="292608"/>
            <a:ext cx="11603736" cy="6272784"/>
          </a:xfrm>
          <a:prstGeom prst="rect">
            <a:avLst/>
          </a:prstGeom>
          <a:solidFill>
            <a:srgbClr val="0B1630">
              <a:alpha val="0"/>
            </a:srgbClr>
          </a:solidFill>
          <a:ln w="9525">
            <a:solidFill>
              <a:srgbClr val="C9A96A">
                <a:alpha val="5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01168" y="201168"/>
            <a:ext cx="36576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01168" y="201168"/>
            <a:ext cx="0" cy="36576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622024" y="6656832"/>
            <a:ext cx="36576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987784" y="6291072"/>
            <a:ext cx="0" cy="36576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4206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4&amp;7 NEXT</a:t>
            </a:r>
            <a:pPr indent="0" marL="0">
              <a:buNone/>
            </a:pPr>
            <a:r>
              <a:rPr lang="en-US" sz="1000" spc="300" kern="0" dirty="0">
                <a:solidFill>
                  <a:srgbClr val="8D97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초안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881360" y="3840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CD9A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06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EFE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잉여금 누적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713232" y="1627632"/>
            <a:ext cx="100584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1874520"/>
            <a:ext cx="10607040" cy="4343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회사에 쌓인 잉여금은 22억이고, 이대로면 10년 후 약 76.3억이 됩니다.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방향: 회사에 쌓인 돈을 대표님께 가장 세금 부담 적게 옮기는 길이 따로 있습니다. 미리 정해 두면 그 사이에 대표님 유고까지 같이 대비가 됩니다.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66928" y="61996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7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 처리는 세무사 검토 사항 · 상품 조건과 금액은 가입설계서·재정심사로 확정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92608" y="292608"/>
            <a:ext cx="11603736" cy="6272784"/>
          </a:xfrm>
          <a:prstGeom prst="rect">
            <a:avLst/>
          </a:prstGeom>
          <a:solidFill>
            <a:srgbClr val="0B1630">
              <a:alpha val="0"/>
            </a:srgbClr>
          </a:solidFill>
          <a:ln w="9525">
            <a:solidFill>
              <a:srgbClr val="C9A96A">
                <a:alpha val="5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01168" y="201168"/>
            <a:ext cx="36576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01168" y="201168"/>
            <a:ext cx="0" cy="36576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622024" y="6656832"/>
            <a:ext cx="36576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987784" y="6291072"/>
            <a:ext cx="0" cy="36576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4206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4&amp;7 NEXT</a:t>
            </a:r>
            <a:pPr indent="0" marL="0">
              <a:buNone/>
            </a:pPr>
            <a:r>
              <a:rPr lang="en-US" sz="1000" spc="300" kern="0" dirty="0">
                <a:solidFill>
                  <a:srgbClr val="8D97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초안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881360" y="3840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CD9A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07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EFE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급여·배당 구조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713232" y="1627632"/>
            <a:ext cx="100584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1874520"/>
            <a:ext cx="10607040" cy="4343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순이익 4.6억에 비해 대표님이 이익을 가져오는 길이 정리되지 않았습니다.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방향: 회사에 쌓인 돈을 대표님께 가장 세금 부담 적게 옮기는 길이 따로 있습니다. 미리 정해 두면 그 사이에 대표님 유고까지 같이 대비가 됩니다.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66928" y="61996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7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 처리는 세무사 검토 사항 · 상품 조건과 금액은 가입설계서·재정심사로 확정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92608" y="292608"/>
            <a:ext cx="11603736" cy="6272784"/>
          </a:xfrm>
          <a:prstGeom prst="rect">
            <a:avLst/>
          </a:prstGeom>
          <a:solidFill>
            <a:srgbClr val="0B1630">
              <a:alpha val="0"/>
            </a:srgbClr>
          </a:solidFill>
          <a:ln w="9525">
            <a:solidFill>
              <a:srgbClr val="C9A96A">
                <a:alpha val="5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01168" y="201168"/>
            <a:ext cx="36576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01168" y="201168"/>
            <a:ext cx="0" cy="36576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622024" y="6656832"/>
            <a:ext cx="36576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987784" y="6291072"/>
            <a:ext cx="0" cy="36576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4206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4&amp;7 NEXT</a:t>
            </a:r>
            <a:pPr indent="0" marL="0">
              <a:buNone/>
            </a:pPr>
            <a:r>
              <a:rPr lang="en-US" sz="1000" spc="300" kern="0" dirty="0">
                <a:solidFill>
                  <a:srgbClr val="8D97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초안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881360" y="3840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CD9A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08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EFE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해결 구조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713232" y="1627632"/>
            <a:ext cx="100584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1874520"/>
            <a:ext cx="10607040" cy="4343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규정 정비 (정관·규정·의사록)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재원 마련 (회사 이익의 일부를 목적에 맞게)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사후 관리 (매년 점검, 세무사 검토)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66928" y="61996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7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 처리는 세무사 검토 사항 · 상품 조건과 금액은 가입설계서·재정심사로 확정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92608" y="292608"/>
            <a:ext cx="11603736" cy="6272784"/>
          </a:xfrm>
          <a:prstGeom prst="rect">
            <a:avLst/>
          </a:prstGeom>
          <a:solidFill>
            <a:srgbClr val="0B1630">
              <a:alpha val="0"/>
            </a:srgbClr>
          </a:solidFill>
          <a:ln w="9525">
            <a:solidFill>
              <a:srgbClr val="C9A96A">
                <a:alpha val="5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01168" y="201168"/>
            <a:ext cx="36576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01168" y="201168"/>
            <a:ext cx="0" cy="36576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622024" y="6656832"/>
            <a:ext cx="36576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987784" y="6291072"/>
            <a:ext cx="0" cy="36576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4206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4&amp;7 NEXT</a:t>
            </a:r>
            <a:pPr indent="0" marL="0">
              <a:buNone/>
            </a:pPr>
            <a:r>
              <a:rPr lang="en-US" sz="1000" spc="300" kern="0" dirty="0">
                <a:solidFill>
                  <a:srgbClr val="8D97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초안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881360" y="3840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CD9A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09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EFE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자주 묻는 질문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713232" y="1627632"/>
            <a:ext cx="100584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1874520"/>
            <a:ext cx="10607040" cy="4343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10년은 고민돼요 → 잉여금 투자가 아니라 퇴직금 재원 준비라는 점, 중도 현금화는 보조 기능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환급률이 100%가 안 되잖아요 → 비용 처리 효과 포함 경제적 이익 비교, 원금형 대안 제시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10년 사업할지 모르겠어요 → 감액완납·종신전환 시점 표를 먼저 보여 줌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법인 돈이 묶이는 것 아닌가요 → 해지·약관대출로 유동성, 해지 시 익금은 세무사 검토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66928" y="61996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7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 처리는 세무사 검토 사항 · 상품 조건과 금액은 가입설계서·재정심사로 확정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92608" y="292608"/>
            <a:ext cx="11603736" cy="6272784"/>
          </a:xfrm>
          <a:prstGeom prst="rect">
            <a:avLst/>
          </a:prstGeom>
          <a:solidFill>
            <a:srgbClr val="0B1630">
              <a:alpha val="0"/>
            </a:srgbClr>
          </a:solidFill>
          <a:ln w="9525">
            <a:solidFill>
              <a:srgbClr val="C9A96A">
                <a:alpha val="5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01168" y="201168"/>
            <a:ext cx="36576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01168" y="201168"/>
            <a:ext cx="0" cy="36576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622024" y="6656832"/>
            <a:ext cx="36576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987784" y="6291072"/>
            <a:ext cx="0" cy="36576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4206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4&amp;7 NEXT</a:t>
            </a:r>
            <a:pPr indent="0" marL="0">
              <a:buNone/>
            </a:pPr>
            <a:r>
              <a:rPr lang="en-US" sz="1000" spc="300" kern="0" dirty="0">
                <a:solidFill>
                  <a:srgbClr val="8D97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초안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881360" y="3840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CD9A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10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EFE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진행 일정과 준비 서류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713232" y="1627632"/>
            <a:ext cx="100584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1874520"/>
            <a:ext cx="10607040" cy="4343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정관 임원 퇴직금·정년 규정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법인 업력과 3년 재무제표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재정심사 선확인(나이·소득·기계약)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일정: 목요일 오후 2시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66928" y="61996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7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 처리는 세무사 검토 사항 · 상품 조건과 금액은 가입설계서·재정심사로 확정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92608" y="292608"/>
            <a:ext cx="11603736" cy="6272784"/>
          </a:xfrm>
          <a:prstGeom prst="rect">
            <a:avLst/>
          </a:prstGeom>
          <a:solidFill>
            <a:srgbClr val="0B1630">
              <a:alpha val="0"/>
            </a:srgbClr>
          </a:solidFill>
          <a:ln w="9525">
            <a:solidFill>
              <a:srgbClr val="C9A96A">
                <a:alpha val="5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01168" y="201168"/>
            <a:ext cx="36576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01168" y="201168"/>
            <a:ext cx="0" cy="36576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622024" y="6656832"/>
            <a:ext cx="36576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987784" y="6291072"/>
            <a:ext cx="0" cy="36576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4206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4&amp;7 NEXT</a:t>
            </a:r>
            <a:pPr indent="0" marL="0">
              <a:buNone/>
            </a:pPr>
            <a:r>
              <a:rPr lang="en-US" sz="1000" spc="300" kern="0" dirty="0">
                <a:solidFill>
                  <a:srgbClr val="8D97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초안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881360" y="3840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CD9A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EFE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확인 사항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713232" y="1627632"/>
            <a:ext cx="1005840" cy="0"/>
          </a:xfrm>
          <a:prstGeom prst="line">
            <a:avLst/>
          </a:prstGeom>
          <a:noFill/>
          <a:ln w="19050">
            <a:solidFill>
              <a:srgbClr val="C9A9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1874520"/>
            <a:ext cx="10607040" cy="4343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자료는 검토용 초안입니다.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 처리는 세무사 검토 사항입니다.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F5EF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조건과 금액은 가입설계서·재정심사로 확정합니다.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66928" y="61996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7A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 처리는 세무사 검토 사항 · 상품 조건과 금액은 가입설계서·재정심사로 확정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2026-10-15T10:43:07Z</dcterms:created>
  <dcterms:modified xsi:type="dcterms:W3CDTF">2026-10-15T10:43:07Z</dcterms:modified>
</cp:coreProperties>
</file>